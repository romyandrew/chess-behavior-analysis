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Открытие: проект не пытается читать психологическое состояние игрока. Мы задаём наблюдаемый поведенческий proxy и проверяем, связан ли он с исходом следующей партии.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Подчеркнуть, что вопрос про ассоциацию в последовательности игр. Мы не можем по этим данным сказать, что именно "вызывает" проигрыш.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важно объяснить, что 500 decisive определяют размер фиксированной выборки, но для временной последовательности сохраняются и ничьи. Это позволяет корректно строить предыдущий результат, серии, паузы и сессии.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проговорить операциональное определение. Оно не означает, что мы измерили эмоциональное состояние игрока.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нужно перечислять весь feature store. Главное: sequential features строятся на player-isolated временной последовательности.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Смысл sensitivity analysis не в том, чтобы выбрать удобный порог, а в том, чтобы увидеть, насколько вывод зависит от operational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pooled результат: 44.46% против 31.80%, разница 12.66 п.п. Сразу назвать его descriptive, не causal.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называем конкретного игрока лучшим или худшим. Forest plot нужен только для демонстрации диапазона оценок и uncertainty. Отдельно отметить black_knight22: tilt n=9, поэтому интервал очень широкий.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важно не превращать ML в главный результат. Full-set метрики показывают умеренную predictive signal, но различия между моделями небольшие.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что временная валидация нужна именно потому, что последовательность игр имеет временную структуру.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особенно важен на защите: здесь можно показать зрелость аналитической интерпретации.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три вывода и акцент на качестве исследовательского процесса, воспроизводимости и осторожной интерпретации.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8890">
            <a:solidFill>
              <a:srgbClr val="26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180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CHESS BEHAVIOR ANALYSIS  •  v12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55480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presentation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4430" y="126187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3060" y="126187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91690" y="126187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26187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28950" y="126187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97580" y="126187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6210" y="126187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73050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4430" y="173050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3060" y="173050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1690" y="173050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73050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8950" y="173050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7580" y="173050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6210" y="173050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19913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4430" y="219913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23060" y="219913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1690" y="219913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19913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28950" y="219913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7580" y="219913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66210" y="219913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266776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4430" y="266776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3060" y="266776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91690" y="266776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266776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28950" y="266776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97580" y="266776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66210" y="266776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13639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54430" y="313639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23060" y="313639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91690" y="313639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313639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28950" y="313639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97580" y="313639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66210" y="313639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360502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54430" y="360502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3060" y="360502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91690" y="360502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0" y="360502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28950" y="360502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97580" y="360502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66210" y="360502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" y="407365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54430" y="407365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23060" y="407365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91690" y="407365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0" y="407365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28950" y="407365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97580" y="407365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66210" y="407365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800" y="454228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4430" y="454228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23060" y="454228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91690" y="454228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60320" y="454228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28950" y="454228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97580" y="4542282"/>
            <a:ext cx="468630" cy="468630"/>
          </a:xfrm>
          <a:prstGeom prst="rect">
            <a:avLst/>
          </a:prstGeom>
          <a:solidFill>
            <a:srgbClr val="31404F"/>
          </a:solidFill>
          <a:ln w="2540">
            <a:solidFill>
              <a:srgbClr val="31404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66210" y="4542282"/>
            <a:ext cx="468630" cy="468630"/>
          </a:xfrm>
          <a:prstGeom prst="rect">
            <a:avLst/>
          </a:prstGeom>
          <a:solidFill>
            <a:srgbClr val="E7EDF2"/>
          </a:solidFill>
          <a:ln w="2540">
            <a:solidFill>
              <a:srgbClr val="E7ED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" y="124358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♜</a:t>
            </a:r>
            <a:endParaRPr lang="en-US" sz="1230" dirty="0"/>
          </a:p>
        </p:txBody>
      </p:sp>
      <p:sp>
        <p:nvSpPr>
          <p:cNvPr id="67" name="Text 65"/>
          <p:cNvSpPr/>
          <p:nvPr/>
        </p:nvSpPr>
        <p:spPr>
          <a:xfrm>
            <a:off x="1154430" y="124358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♞</a:t>
            </a:r>
            <a:endParaRPr lang="en-US" sz="1230" dirty="0"/>
          </a:p>
        </p:txBody>
      </p:sp>
      <p:sp>
        <p:nvSpPr>
          <p:cNvPr id="68" name="Text 66"/>
          <p:cNvSpPr/>
          <p:nvPr/>
        </p:nvSpPr>
        <p:spPr>
          <a:xfrm>
            <a:off x="1623060" y="124358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♝</a:t>
            </a:r>
            <a:endParaRPr lang="en-US" sz="1230" dirty="0"/>
          </a:p>
        </p:txBody>
      </p:sp>
      <p:sp>
        <p:nvSpPr>
          <p:cNvPr id="69" name="Text 67"/>
          <p:cNvSpPr/>
          <p:nvPr/>
        </p:nvSpPr>
        <p:spPr>
          <a:xfrm>
            <a:off x="2091690" y="124358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♛</a:t>
            </a:r>
            <a:endParaRPr lang="en-US" sz="1230" dirty="0"/>
          </a:p>
        </p:txBody>
      </p:sp>
      <p:sp>
        <p:nvSpPr>
          <p:cNvPr id="70" name="Text 68"/>
          <p:cNvSpPr/>
          <p:nvPr/>
        </p:nvSpPr>
        <p:spPr>
          <a:xfrm>
            <a:off x="2560320" y="124358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♚</a:t>
            </a:r>
            <a:endParaRPr lang="en-US" sz="1230" dirty="0"/>
          </a:p>
        </p:txBody>
      </p:sp>
      <p:sp>
        <p:nvSpPr>
          <p:cNvPr id="71" name="Text 69"/>
          <p:cNvSpPr/>
          <p:nvPr/>
        </p:nvSpPr>
        <p:spPr>
          <a:xfrm>
            <a:off x="3028950" y="124358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♝</a:t>
            </a:r>
            <a:endParaRPr lang="en-US" sz="1230" dirty="0"/>
          </a:p>
        </p:txBody>
      </p:sp>
      <p:sp>
        <p:nvSpPr>
          <p:cNvPr id="72" name="Text 70"/>
          <p:cNvSpPr/>
          <p:nvPr/>
        </p:nvSpPr>
        <p:spPr>
          <a:xfrm>
            <a:off x="3497580" y="124358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♞</a:t>
            </a:r>
            <a:endParaRPr lang="en-US" sz="1230" dirty="0"/>
          </a:p>
        </p:txBody>
      </p:sp>
      <p:sp>
        <p:nvSpPr>
          <p:cNvPr id="73" name="Text 71"/>
          <p:cNvSpPr/>
          <p:nvPr/>
        </p:nvSpPr>
        <p:spPr>
          <a:xfrm>
            <a:off x="3966210" y="124358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♜</a:t>
            </a:r>
            <a:endParaRPr lang="en-US" sz="1230" dirty="0"/>
          </a:p>
        </p:txBody>
      </p:sp>
      <p:sp>
        <p:nvSpPr>
          <p:cNvPr id="74" name="Text 72"/>
          <p:cNvSpPr/>
          <p:nvPr/>
        </p:nvSpPr>
        <p:spPr>
          <a:xfrm>
            <a:off x="1154430" y="171221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♟</a:t>
            </a:r>
            <a:endParaRPr lang="en-US" sz="1230" dirty="0"/>
          </a:p>
        </p:txBody>
      </p:sp>
      <p:sp>
        <p:nvSpPr>
          <p:cNvPr id="75" name="Text 73"/>
          <p:cNvSpPr/>
          <p:nvPr/>
        </p:nvSpPr>
        <p:spPr>
          <a:xfrm>
            <a:off x="2091690" y="171221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♟</a:t>
            </a:r>
            <a:endParaRPr lang="en-US" sz="1230" dirty="0"/>
          </a:p>
        </p:txBody>
      </p:sp>
      <p:sp>
        <p:nvSpPr>
          <p:cNvPr id="76" name="Text 74"/>
          <p:cNvSpPr/>
          <p:nvPr/>
        </p:nvSpPr>
        <p:spPr>
          <a:xfrm>
            <a:off x="3028950" y="171221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♟</a:t>
            </a:r>
            <a:endParaRPr lang="en-US" sz="1230" dirty="0"/>
          </a:p>
        </p:txBody>
      </p:sp>
      <p:sp>
        <p:nvSpPr>
          <p:cNvPr id="77" name="Text 75"/>
          <p:cNvSpPr/>
          <p:nvPr/>
        </p:nvSpPr>
        <p:spPr>
          <a:xfrm>
            <a:off x="3497580" y="171221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1A1D2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♟</a:t>
            </a:r>
            <a:endParaRPr lang="en-US" sz="1230" dirty="0"/>
          </a:p>
        </p:txBody>
      </p:sp>
      <p:sp>
        <p:nvSpPr>
          <p:cNvPr id="78" name="Text 76"/>
          <p:cNvSpPr/>
          <p:nvPr/>
        </p:nvSpPr>
        <p:spPr>
          <a:xfrm>
            <a:off x="685800" y="405536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♙</a:t>
            </a:r>
            <a:endParaRPr lang="en-US" sz="1230" dirty="0"/>
          </a:p>
        </p:txBody>
      </p:sp>
      <p:sp>
        <p:nvSpPr>
          <p:cNvPr id="79" name="Text 77"/>
          <p:cNvSpPr/>
          <p:nvPr/>
        </p:nvSpPr>
        <p:spPr>
          <a:xfrm>
            <a:off x="1623060" y="405536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♙</a:t>
            </a:r>
            <a:endParaRPr lang="en-US" sz="1230" dirty="0"/>
          </a:p>
        </p:txBody>
      </p:sp>
      <p:sp>
        <p:nvSpPr>
          <p:cNvPr id="80" name="Text 78"/>
          <p:cNvSpPr/>
          <p:nvPr/>
        </p:nvSpPr>
        <p:spPr>
          <a:xfrm>
            <a:off x="2560320" y="405536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♙</a:t>
            </a:r>
            <a:endParaRPr lang="en-US" sz="1230" dirty="0"/>
          </a:p>
        </p:txBody>
      </p:sp>
      <p:sp>
        <p:nvSpPr>
          <p:cNvPr id="81" name="Text 79"/>
          <p:cNvSpPr/>
          <p:nvPr/>
        </p:nvSpPr>
        <p:spPr>
          <a:xfrm>
            <a:off x="3966210" y="405536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♙</a:t>
            </a:r>
            <a:endParaRPr lang="en-US" sz="1230" dirty="0"/>
          </a:p>
        </p:txBody>
      </p:sp>
      <p:sp>
        <p:nvSpPr>
          <p:cNvPr id="82" name="Text 80"/>
          <p:cNvSpPr/>
          <p:nvPr/>
        </p:nvSpPr>
        <p:spPr>
          <a:xfrm>
            <a:off x="685800" y="452399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♖</a:t>
            </a:r>
            <a:endParaRPr lang="en-US" sz="1230" dirty="0"/>
          </a:p>
        </p:txBody>
      </p:sp>
      <p:sp>
        <p:nvSpPr>
          <p:cNvPr id="83" name="Text 81"/>
          <p:cNvSpPr/>
          <p:nvPr/>
        </p:nvSpPr>
        <p:spPr>
          <a:xfrm>
            <a:off x="1154430" y="452399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♘</a:t>
            </a:r>
            <a:endParaRPr lang="en-US" sz="1230" dirty="0"/>
          </a:p>
        </p:txBody>
      </p:sp>
      <p:sp>
        <p:nvSpPr>
          <p:cNvPr id="84" name="Text 82"/>
          <p:cNvSpPr/>
          <p:nvPr/>
        </p:nvSpPr>
        <p:spPr>
          <a:xfrm>
            <a:off x="1623060" y="452399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♗</a:t>
            </a:r>
            <a:endParaRPr lang="en-US" sz="1230" dirty="0"/>
          </a:p>
        </p:txBody>
      </p:sp>
      <p:sp>
        <p:nvSpPr>
          <p:cNvPr id="85" name="Text 83"/>
          <p:cNvSpPr/>
          <p:nvPr/>
        </p:nvSpPr>
        <p:spPr>
          <a:xfrm>
            <a:off x="2091690" y="452399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♕</a:t>
            </a:r>
            <a:endParaRPr lang="en-US" sz="1230" dirty="0"/>
          </a:p>
        </p:txBody>
      </p:sp>
      <p:sp>
        <p:nvSpPr>
          <p:cNvPr id="86" name="Text 84"/>
          <p:cNvSpPr/>
          <p:nvPr/>
        </p:nvSpPr>
        <p:spPr>
          <a:xfrm>
            <a:off x="2560320" y="452399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♔</a:t>
            </a:r>
            <a:endParaRPr lang="en-US" sz="1230" dirty="0"/>
          </a:p>
        </p:txBody>
      </p:sp>
      <p:sp>
        <p:nvSpPr>
          <p:cNvPr id="87" name="Text 85"/>
          <p:cNvSpPr/>
          <p:nvPr/>
        </p:nvSpPr>
        <p:spPr>
          <a:xfrm>
            <a:off x="3028950" y="452399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♗</a:t>
            </a:r>
            <a:endParaRPr lang="en-US" sz="1230" dirty="0"/>
          </a:p>
        </p:txBody>
      </p:sp>
      <p:sp>
        <p:nvSpPr>
          <p:cNvPr id="88" name="Text 86"/>
          <p:cNvSpPr/>
          <p:nvPr/>
        </p:nvSpPr>
        <p:spPr>
          <a:xfrm>
            <a:off x="3497580" y="452399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♘</a:t>
            </a:r>
            <a:endParaRPr lang="en-US" sz="1230" dirty="0"/>
          </a:p>
        </p:txBody>
      </p:sp>
      <p:sp>
        <p:nvSpPr>
          <p:cNvPr id="89" name="Text 87"/>
          <p:cNvSpPr/>
          <p:nvPr/>
        </p:nvSpPr>
        <p:spPr>
          <a:xfrm>
            <a:off x="3966210" y="4523994"/>
            <a:ext cx="4686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7F8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♖</a:t>
            </a:r>
            <a:endParaRPr lang="en-US" sz="1230" dirty="0"/>
          </a:p>
        </p:txBody>
      </p:sp>
      <p:sp>
        <p:nvSpPr>
          <p:cNvPr id="90" name="Text 88"/>
          <p:cNvSpPr/>
          <p:nvPr/>
        </p:nvSpPr>
        <p:spPr>
          <a:xfrm>
            <a:off x="4892040" y="114300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Chess Behavior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</a:t>
            </a:r>
            <a:endParaRPr lang="en-US" sz="3300" dirty="0"/>
          </a:p>
        </p:txBody>
      </p:sp>
      <p:sp>
        <p:nvSpPr>
          <p:cNvPr id="91" name="Text 89"/>
          <p:cNvSpPr/>
          <p:nvPr/>
        </p:nvSpPr>
        <p:spPr>
          <a:xfrm>
            <a:off x="4919472" y="24505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5C2FF"/>
                </a:solidFill>
              </a:rPr>
              <a:t>Поведенческий анализ игроков в bullet-шахматах</a:t>
            </a:r>
            <a:endParaRPr lang="en-US" sz="1900" dirty="0"/>
          </a:p>
        </p:txBody>
      </p:sp>
      <p:sp>
        <p:nvSpPr>
          <p:cNvPr id="92" name="Text 90"/>
          <p:cNvSpPr/>
          <p:nvPr/>
        </p:nvSpPr>
        <p:spPr>
          <a:xfrm>
            <a:off x="4919472" y="318211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AB7C4"/>
                </a:solidFill>
              </a:rPr>
              <a:t>Исследование связи между последовательностью игр, паузами, сериями поражений и результатом следующей партии.</a:t>
            </a:r>
            <a:endParaRPr lang="en-US" sz="1500" dirty="0"/>
          </a:p>
        </p:txBody>
      </p:sp>
      <p:sp>
        <p:nvSpPr>
          <p:cNvPr id="93" name="Shape 91"/>
          <p:cNvSpPr/>
          <p:nvPr/>
        </p:nvSpPr>
        <p:spPr>
          <a:xfrm>
            <a:off x="4919472" y="4590288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001768" y="464058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5C2FF"/>
                </a:solidFill>
              </a:rPr>
              <a:t>15 игроков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4590288"/>
            <a:ext cx="1536192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64808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E7C7"/>
                </a:solidFill>
              </a:rPr>
              <a:t>60+0 bullet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046720" y="4590288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29016" y="46405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B55B"/>
                </a:solidFill>
              </a:rPr>
              <a:t>8 043 игры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93776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F"/>
                </a:solidFill>
              </a:rPr>
              <a:t>Финальная исследовательская версия v12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Можно ли увидеть изменение поведения после проигрыша?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51C23"/>
          </a:solidFill>
          <a:ln w="12700">
            <a:solidFill>
              <a:srgbClr val="F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21284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Проигрыш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95728" y="2450592"/>
            <a:ext cx="274320" cy="0"/>
          </a:xfrm>
          <a:prstGeom prst="line">
            <a:avLst/>
          </a:prstGeom>
          <a:noFill/>
          <a:ln w="21590">
            <a:solidFill>
              <a:srgbClr val="45C2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43200" y="192024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2928" y="221284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Короткий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перерыв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7408" y="2450592"/>
            <a:ext cx="594360" cy="0"/>
          </a:xfrm>
          <a:prstGeom prst="line">
            <a:avLst/>
          </a:prstGeom>
          <a:noFill/>
          <a:ln w="21590">
            <a:solidFill>
              <a:srgbClr val="45C2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74920" y="192024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51C23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4648" y="221284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Серия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поражений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39128" y="2450592"/>
            <a:ext cx="502920" cy="0"/>
          </a:xfrm>
          <a:prstGeom prst="line">
            <a:avLst/>
          </a:prstGeom>
          <a:noFill/>
          <a:ln w="21590">
            <a:solidFill>
              <a:srgbClr val="45C2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192024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51C23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24928" y="221284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Следующая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партия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79408" y="2450592"/>
            <a:ext cx="594360" cy="0"/>
          </a:xfrm>
          <a:prstGeom prst="line">
            <a:avLst/>
          </a:prstGeom>
          <a:noFill/>
          <a:ln w="21590">
            <a:solidFill>
              <a:srgbClr val="45C2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46920" y="192024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51C23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56648" y="221284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Результат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8F"/>
                </a:solidFill>
              </a:rPr>
              <a:t>Основной вопрос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404164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F7FA"/>
                </a:solidFill>
              </a:rPr>
              <a:t>Связано ли определённое поведение после проигрыша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4F7FA"/>
                </a:solidFill>
              </a:rPr>
              <a:t>с более высокой вероятностью проиграть следующую игру?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68096" y="5358384"/>
            <a:ext cx="3493008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408676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E7C7"/>
                </a:solidFill>
              </a:rPr>
              <a:t>Наблюдаемая связь, не причинный эффект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53858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Наблюдаемый proxy ≠ психологическое состояние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Данные и финальная выборка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7C4"/>
                </a:solidFill>
              </a:rPr>
              <a:t>Финальный multi-player research design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600200" cy="1170432"/>
          </a:xfrm>
          <a:prstGeom prst="roundRect">
            <a:avLst>
              <a:gd name="adj" fmla="val 6250"/>
            </a:avLst>
          </a:prstGeom>
          <a:solidFill>
            <a:srgbClr val="151B22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52704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5C2FF"/>
                </a:solidFill>
              </a:rPr>
              <a:t>15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2104" y="207568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игроков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417320"/>
            <a:ext cx="1600200" cy="1170432"/>
          </a:xfrm>
          <a:prstGeom prst="roundRect">
            <a:avLst>
              <a:gd name="adj" fmla="val 6250"/>
            </a:avLst>
          </a:prstGeom>
          <a:solidFill>
            <a:srgbClr val="151B22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9464" y="152704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5C2FF"/>
                </a:solidFill>
              </a:rPr>
              <a:t>60+0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569464" y="207568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bullet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51B22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6824" y="1527048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BE7C7"/>
                </a:solidFill>
              </a:rPr>
              <a:t>8 043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306824" y="207568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уникальные партии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51B22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527048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B55B"/>
                </a:solidFill>
              </a:rPr>
              <a:t>7 500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227064" y="207568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решающих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51B22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7304" y="1527048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5C2FF"/>
                </a:solidFill>
              </a:rPr>
              <a:t>1 059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147304" y="207568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сессий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21240" y="1417320"/>
            <a:ext cx="1572768" cy="1170432"/>
          </a:xfrm>
          <a:prstGeom prst="roundRect">
            <a:avLst>
              <a:gd name="adj" fmla="val 6250"/>
            </a:avLst>
          </a:prstGeom>
          <a:solidFill>
            <a:srgbClr val="151B22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67544" y="15270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AB7C4"/>
                </a:solidFill>
              </a:rPr>
              <a:t>543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0067544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ничьи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" y="2971800"/>
            <a:ext cx="10927080" cy="2331720"/>
          </a:xfrm>
          <a:prstGeom prst="roundRect">
            <a:avLst>
              <a:gd name="adj" fmla="val 3137"/>
            </a:avLst>
          </a:prstGeom>
          <a:solidFill>
            <a:srgbClr val="121820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1808F"/>
                </a:solidFill>
              </a:rPr>
              <a:t>100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440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кандидатов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88920" y="3703320"/>
            <a:ext cx="201168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063240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1808F"/>
                </a:solidFill>
              </a:rPr>
              <a:t>27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06324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проверены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703320"/>
            <a:ext cx="201168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212080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C2FF"/>
                </a:solidFill>
              </a:rPr>
              <a:t>15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21208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выбрано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86600" y="3703320"/>
            <a:ext cx="201168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360920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E7C7"/>
                </a:solidFill>
              </a:rPr>
              <a:t>500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36092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решающих / игрока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235440" y="3703320"/>
            <a:ext cx="201168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509760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B55B"/>
                </a:solidFill>
              </a:rPr>
              <a:t>8 043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50976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все игры окна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473659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A"/>
                </a:solidFill>
              </a:rPr>
              <a:t>Для каждого игрока: последние 500 решающих 60+0 игр → затем все анализируемые 60+0 игры до общего cutoff, включая ничьи.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49808" y="56967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Cutoff: 28 сентября 2026  •  random seed = 42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Tilt как операциональный поведенческий прокси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AB7C4"/>
                </a:solidFill>
              </a:rPr>
              <a:t>Игрок попадает в tilt-proxy наблюдение, если одновременно выполняются три условия: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" y="19659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151C23"/>
          </a:solidFill>
          <a:ln w="12700">
            <a:solidFill>
              <a:srgbClr val="FF7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E79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91056" y="2121408"/>
            <a:ext cx="2057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Предыдущая партия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проиграна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53128" y="19659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C2F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94376" y="2121408"/>
            <a:ext cx="2057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Перерыв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≤ 5 минут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6448" y="19659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151C23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B55B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97696" y="2121408"/>
            <a:ext cx="2057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Перед текущей игрой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loss streak ≥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8F"/>
                </a:solidFill>
              </a:rPr>
              <a:t>Условный timeline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43000" y="4526280"/>
            <a:ext cx="8503920" cy="0"/>
          </a:xfrm>
          <a:prstGeom prst="line">
            <a:avLst/>
          </a:prstGeom>
          <a:noFill/>
          <a:ln w="25400">
            <a:solidFill>
              <a:srgbClr val="2832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334256"/>
            <a:ext cx="384048" cy="384048"/>
          </a:xfrm>
          <a:prstGeom prst="ellipse">
            <a:avLst/>
          </a:prstGeom>
          <a:solidFill>
            <a:srgbClr val="FF7E79"/>
          </a:solidFill>
          <a:ln w="12700">
            <a:solidFill>
              <a:srgbClr val="FF7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8737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A"/>
                </a:solidFill>
              </a:rPr>
              <a:t>Loss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148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предыдущая игра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03320" y="4334256"/>
            <a:ext cx="384048" cy="384048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48737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A"/>
                </a:solidFill>
              </a:rPr>
              <a:t>3 min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5148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break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0" y="4334256"/>
            <a:ext cx="384048" cy="384048"/>
          </a:xfrm>
          <a:prstGeom prst="ellipse">
            <a:avLst/>
          </a:prstGeom>
          <a:solidFill>
            <a:srgbClr val="F3B55B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48737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A"/>
                </a:solidFill>
              </a:rPr>
              <a:t>≥ 2 losses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5148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streak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89720" y="4334256"/>
            <a:ext cx="384048" cy="384048"/>
          </a:xfrm>
          <a:prstGeom prst="ellipse">
            <a:avLst/>
          </a:prstGeom>
          <a:solidFill>
            <a:srgbClr val="8BE7C7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25128" y="48737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A"/>
                </a:solidFill>
              </a:rPr>
              <a:t>Next game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0" y="5148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результат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" y="571500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BE7C7"/>
                </a:solidFill>
              </a:rPr>
              <a:t>Это заранее заданное наблюдаемое правило для анализа поведения, а не прямое измерение психологического tilt.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 сырых партий к признакам и моделям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50876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75564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5C2FF"/>
                </a:solidFill>
              </a:rPr>
              <a:t>Raw games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8096" y="213055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PGN / история партий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78608" y="2084832"/>
            <a:ext cx="292608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35224" y="150876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151C23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175564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BE7C7"/>
                </a:solidFill>
              </a:rPr>
              <a:t>Parsing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44952" y="213055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структурирование игр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55464" y="2084832"/>
            <a:ext cx="292608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150876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151C23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175564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3B55B"/>
                </a:solidFill>
              </a:rPr>
              <a:t>Feature engineering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21808" y="213055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паузы, streaks, sessions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0" y="2084832"/>
            <a:ext cx="292608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88936" y="150876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151C23"/>
          </a:solidFill>
          <a:ln w="12700">
            <a:solidFill>
              <a:srgbClr val="FF7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98664" y="175564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7E79"/>
                </a:solidFill>
              </a:rPr>
              <a:t>Analysis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98664" y="213055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tilt / control / sensitivity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409176" y="2084832"/>
            <a:ext cx="292608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65792" y="150876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175564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5C2FF"/>
                </a:solidFill>
              </a:rPr>
              <a:t>Modeling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75520" y="213055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rating + behavioral features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3232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8F"/>
                </a:solidFill>
              </a:rPr>
              <a:t>Три уровня признаков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3703320"/>
            <a:ext cx="3246120" cy="1664208"/>
          </a:xfrm>
          <a:prstGeom prst="roundRect">
            <a:avLst>
              <a:gd name="adj" fmla="val 4396"/>
            </a:avLst>
          </a:prstGeom>
          <a:solidFill>
            <a:srgbClr val="121820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39136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C2FF"/>
                </a:solidFill>
              </a:rPr>
              <a:t>Rating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7824" y="4315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• рейтинг игрока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33672" y="3703320"/>
            <a:ext cx="3246120" cy="1664208"/>
          </a:xfrm>
          <a:prstGeom prst="roundRect">
            <a:avLst>
              <a:gd name="adj" fmla="val 4396"/>
            </a:avLst>
          </a:prstGeom>
          <a:solidFill>
            <a:srgbClr val="121820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70832" y="39136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B55B"/>
                </a:solidFill>
              </a:rPr>
              <a:t>Baseline behavioral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98264" y="4315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• предыдущий результат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98264" y="4572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• break duration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98264" y="4828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• loss streak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98264" y="50840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• последовательность игр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54112" y="3703320"/>
            <a:ext cx="3246120" cy="1664208"/>
          </a:xfrm>
          <a:prstGeom prst="roundRect">
            <a:avLst>
              <a:gd name="adj" fmla="val 4396"/>
            </a:avLst>
          </a:prstGeom>
          <a:solidFill>
            <a:srgbClr val="121820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91272" y="39136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E7C7"/>
                </a:solidFill>
              </a:rPr>
              <a:t>Behavioral model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18704" y="4315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• rating + behavioral features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579729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</a:rPr>
              <a:t>Ключевая идея: признаки строятся из временной последовательности игр, а не из независимых строк.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проверялась устойчивость определения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AB7C4"/>
                </a:solidFill>
              </a:rPr>
              <a:t>Мы не фиксировались на одном пороге: определение proxy проверялось на нескольких разумных вариантах.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151C23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78308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151C23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C2FF"/>
                </a:solidFill>
              </a:rPr>
              <a:t>Порог перерыва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87552" y="2578608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7180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62890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808F"/>
                </a:solidFill>
              </a:rPr>
              <a:t>≤ 2 мин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87552" y="3081528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13182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5C2FF"/>
                </a:solidFill>
              </a:rPr>
              <a:t>≤ 5 мин  •  baseline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7552" y="3584448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7180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63474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808F"/>
                </a:solidFill>
              </a:rPr>
              <a:t>≤ 10 мин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87552" y="4087368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7180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13766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808F"/>
                </a:solidFill>
              </a:rPr>
              <a:t>≤ 15 мин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B55B"/>
                </a:solidFill>
              </a:rPr>
              <a:t>Минимальная серия поражений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73952" y="2578608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262890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B55B"/>
                </a:solidFill>
              </a:rPr>
              <a:t>≥ 2  •  baseline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73952" y="3191256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7180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324154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808F"/>
                </a:solidFill>
              </a:rPr>
              <a:t>≥ 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73952" y="3803904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7180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385419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808F"/>
                </a:solidFill>
              </a:rPr>
              <a:t>≥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235440" y="2578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8F"/>
                </a:solidFill>
              </a:rPr>
              <a:t>Direction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28895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E7C7"/>
                </a:solidFill>
              </a:rPr>
              <a:t>positive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89720" y="32552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7C4"/>
                </a:solidFill>
              </a:rPr>
              <a:t>across tested definitions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73952" y="4599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8F"/>
                </a:solidFill>
              </a:rPr>
              <a:t>Что меняется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3952" y="48737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• величина point estimate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73952" y="51297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• размер tilt sample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73952" y="53858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• ширина uncertainty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7424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</a:rPr>
              <a:t>Вывод: направление наблюдаемой связи сохраняется, но величина зависит от определения, особенно от streak threshold.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Основной pooled result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22529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AB7C4"/>
                </a:solidFill>
              </a:rPr>
              <a:t>В pooled-выборке частота следующего проигрыша выше в tilt-proxy наблюдениях.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472222"/>
            <a:ext cx="1417320" cy="2328378"/>
          </a:xfrm>
          <a:prstGeom prst="rect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6074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44,46%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965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</a:rPr>
              <a:t>Tilt proxy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0" y="3135228"/>
            <a:ext cx="1417320" cy="1665372"/>
          </a:xfrm>
          <a:prstGeom prst="rect">
            <a:avLst/>
          </a:prstGeom>
          <a:solidFill>
            <a:srgbClr val="28323C"/>
          </a:solidFill>
          <a:ln w="12700">
            <a:solidFill>
              <a:srgbClr val="283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7237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31,80%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4965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</a:rPr>
              <a:t>Control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800600"/>
            <a:ext cx="6217920" cy="0"/>
          </a:xfrm>
          <a:prstGeom prst="line">
            <a:avLst/>
          </a:prstGeom>
          <a:noFill/>
          <a:ln w="10160">
            <a:solidFill>
              <a:srgbClr val="24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6908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0%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4276898"/>
            <a:ext cx="6217920" cy="0"/>
          </a:xfrm>
          <a:prstGeom prst="line">
            <a:avLst/>
          </a:prstGeom>
          <a:noFill/>
          <a:ln w="10160">
            <a:solidFill>
              <a:srgbClr val="24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16717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10%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3753196"/>
            <a:ext cx="6217920" cy="0"/>
          </a:xfrm>
          <a:prstGeom prst="line">
            <a:avLst/>
          </a:prstGeom>
          <a:noFill/>
          <a:ln w="10160">
            <a:solidFill>
              <a:srgbClr val="243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6434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20%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3229495"/>
            <a:ext cx="6217920" cy="0"/>
          </a:xfrm>
          <a:prstGeom prst="line">
            <a:avLst/>
          </a:prstGeom>
          <a:noFill/>
          <a:ln w="10160">
            <a:solidFill>
              <a:srgbClr val="24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19767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30%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2705793"/>
            <a:ext cx="6217920" cy="0"/>
          </a:xfrm>
          <a:prstGeom prst="line">
            <a:avLst/>
          </a:prstGeom>
          <a:noFill/>
          <a:ln w="10160">
            <a:solidFill>
              <a:srgbClr val="243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96065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40%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2182091"/>
            <a:ext cx="6217920" cy="0"/>
          </a:xfrm>
          <a:prstGeom prst="line">
            <a:avLst/>
          </a:prstGeom>
          <a:noFill/>
          <a:ln w="10160">
            <a:solidFill>
              <a:srgbClr val="2430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072363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50%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60920" y="1901952"/>
            <a:ext cx="3840480" cy="2514600"/>
          </a:xfrm>
          <a:prstGeom prst="roundRect">
            <a:avLst>
              <a:gd name="adj" fmla="val 2909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35915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C2FF"/>
                </a:solidFill>
              </a:rPr>
              <a:t>+12,66 п.п.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790688" y="30723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7C4"/>
                </a:solidFill>
              </a:rPr>
              <a:t>разница loss rate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18120" y="3529584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44,46% vs 31,80%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18120" y="408736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BE7C7"/>
                </a:solidFill>
              </a:rPr>
              <a:t>Описательная pooled-оценка.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E7C7"/>
                </a:solidFill>
              </a:rPr>
              <a:t>Не причинный эффект.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C4"/>
                </a:solidFill>
              </a:rPr>
              <a:t>Общий объём: 641 tilt-proxy наблюдение и 6 859 control наблюдений.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Оценка заметно различается между игроками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7C4"/>
                </a:solidFill>
              </a:rPr>
              <a:t>Player-level heterogeneity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804154" y="1344168"/>
            <a:ext cx="0" cy="4636008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76422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11830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-30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85666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1074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-20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94910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0318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-10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804154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39562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13398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8806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10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22642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8050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20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31886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7294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30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41130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76538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40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850374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85782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50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659618" y="6053328"/>
            <a:ext cx="0" cy="73152"/>
          </a:xfrm>
          <a:prstGeom prst="line">
            <a:avLst/>
          </a:prstGeom>
          <a:noFill/>
          <a:ln w="8890">
            <a:solidFill>
              <a:srgbClr val="7180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95026" y="6153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8F"/>
                </a:solidFill>
              </a:rPr>
              <a:t>60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" y="14996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kingdomino1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3731065" y="1600200"/>
            <a:ext cx="5855528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31065" y="1554480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86593" y="1554480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18960" y="1559052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18013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kayra_kamer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3372732" y="1901952"/>
            <a:ext cx="3563813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2732" y="1856232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36545" y="1856232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35151" y="1860804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21031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vladimirovich9000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5019220" y="2203704"/>
            <a:ext cx="3186868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19220" y="2157984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06087" y="2157984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45496" y="2162556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24048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arseniii_nesterov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582000" y="2505456"/>
            <a:ext cx="2632244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82000" y="2459736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4244" y="2459736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64614" y="2464308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27066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roadto18thworldchamp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3500188" y="2807208"/>
            <a:ext cx="2548423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00188" y="2761488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8610" y="2761488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6032" y="2766060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30083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maratgilfanovyoutube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4618781" y="3108960"/>
            <a:ext cx="2766109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8781" y="3063240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84891" y="3063240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76884" y="3067812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33101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albornoz00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5378961" y="3410712"/>
            <a:ext cx="2520075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78961" y="3364992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99036" y="3364992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35094" y="3369564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36118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sergiooliva64</a:t>
            </a:r>
            <a:endParaRPr lang="en-US" sz="870" dirty="0"/>
          </a:p>
        </p:txBody>
      </p:sp>
      <p:sp>
        <p:nvSpPr>
          <p:cNvPr id="61" name="Shape 59"/>
          <p:cNvSpPr/>
          <p:nvPr/>
        </p:nvSpPr>
        <p:spPr>
          <a:xfrm>
            <a:off x="5141488" y="3712464"/>
            <a:ext cx="3650297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41488" y="3666744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91786" y="3666744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13990" y="3671316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" y="39136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black_knight22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4591291" y="4014216"/>
            <a:ext cx="6061408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91291" y="3968496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652699" y="3968496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03053" y="3973068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137392" y="39136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B55B"/>
                </a:solidFill>
              </a:rPr>
              <a:t>n=9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13232" y="42153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onepoundrook</a:t>
            </a:r>
            <a:endParaRPr lang="en-US" sz="870" dirty="0"/>
          </a:p>
        </p:txBody>
      </p:sp>
      <p:sp>
        <p:nvSpPr>
          <p:cNvPr id="72" name="Shape 70"/>
          <p:cNvSpPr/>
          <p:nvPr/>
        </p:nvSpPr>
        <p:spPr>
          <a:xfrm>
            <a:off x="6078520" y="4315968"/>
            <a:ext cx="2797775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78520" y="4270248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76295" y="4270248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19656" y="4274820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3232" y="45171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kontrajako</a:t>
            </a:r>
            <a:endParaRPr lang="en-US" sz="870" dirty="0"/>
          </a:p>
        </p:txBody>
      </p:sp>
      <p:sp>
        <p:nvSpPr>
          <p:cNvPr id="77" name="Shape 75"/>
          <p:cNvSpPr/>
          <p:nvPr/>
        </p:nvSpPr>
        <p:spPr>
          <a:xfrm>
            <a:off x="4045966" y="4617720"/>
            <a:ext cx="2021241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45966" y="4572000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67207" y="4572000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055403" y="4576572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3232" y="48188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gepard2014</a:t>
            </a:r>
            <a:endParaRPr lang="en-US" sz="870" dirty="0"/>
          </a:p>
        </p:txBody>
      </p:sp>
      <p:sp>
        <p:nvSpPr>
          <p:cNvPr id="82" name="Shape 80"/>
          <p:cNvSpPr/>
          <p:nvPr/>
        </p:nvSpPr>
        <p:spPr>
          <a:xfrm>
            <a:off x="5475302" y="4919472"/>
            <a:ext cx="3438526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75302" y="4873752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13828" y="4873752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59317" y="4878324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3232" y="51206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gmadham</a:t>
            </a:r>
            <a:endParaRPr lang="en-US" sz="870" dirty="0"/>
          </a:p>
        </p:txBody>
      </p:sp>
      <p:sp>
        <p:nvSpPr>
          <p:cNvPr id="87" name="Shape 85"/>
          <p:cNvSpPr/>
          <p:nvPr/>
        </p:nvSpPr>
        <p:spPr>
          <a:xfrm>
            <a:off x="5692187" y="5221224"/>
            <a:ext cx="2341863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92187" y="5175504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034050" y="5175504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848898" y="5180076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3232" y="5422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yoseph2013</a:t>
            </a:r>
            <a:endParaRPr lang="en-US" sz="870" dirty="0"/>
          </a:p>
        </p:txBody>
      </p:sp>
      <p:sp>
        <p:nvSpPr>
          <p:cNvPr id="92" name="Shape 90"/>
          <p:cNvSpPr/>
          <p:nvPr/>
        </p:nvSpPr>
        <p:spPr>
          <a:xfrm>
            <a:off x="5665595" y="5522976"/>
            <a:ext cx="3313150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5595" y="5477256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978745" y="5477256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85666" y="5481828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3232" y="57241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4F7FA"/>
                </a:solidFill>
              </a:rPr>
              <a:t>tonygazzo</a:t>
            </a:r>
            <a:endParaRPr lang="en-US" sz="870" dirty="0"/>
          </a:p>
        </p:txBody>
      </p:sp>
      <p:sp>
        <p:nvSpPr>
          <p:cNvPr id="97" name="Shape 95"/>
          <p:cNvSpPr/>
          <p:nvPr/>
        </p:nvSpPr>
        <p:spPr>
          <a:xfrm>
            <a:off x="4317872" y="5824728"/>
            <a:ext cx="2529672" cy="0"/>
          </a:xfrm>
          <a:prstGeom prst="line">
            <a:avLst/>
          </a:prstGeom>
          <a:noFill/>
          <a:ln w="20320">
            <a:solidFill>
              <a:srgbClr val="45C2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317872" y="5779008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47545" y="5779008"/>
            <a:ext cx="0" cy="91440"/>
          </a:xfrm>
          <a:prstGeom prst="line">
            <a:avLst/>
          </a:prstGeom>
          <a:noFill/>
          <a:ln w="12700">
            <a:solidFill>
              <a:srgbClr val="45C2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713132" y="5783580"/>
            <a:ext cx="82296" cy="82296"/>
          </a:xfrm>
          <a:prstGeom prst="ellipse">
            <a:avLst/>
          </a:prstGeom>
          <a:solidFill>
            <a:srgbClr val="45C2FF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532120" y="62362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7C4"/>
                </a:solidFill>
              </a:rPr>
              <a:t>difference in loss rate, percentage points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713232" y="57150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4F7FA"/>
                </a:solidFill>
              </a:rPr>
              <a:t>15 оценок • 11 положительных • 4 отрицательных • CI показывают существенную неопределённость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Можно ли использовать поведение как предиктор следующего результата?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13232" y="1444752"/>
            <a:ext cx="2743200" cy="640080"/>
          </a:xfrm>
          <a:prstGeom prst="rect">
            <a:avLst/>
          </a:prstGeom>
          <a:solidFill>
            <a:srgbClr val="1B222B"/>
          </a:solidFill>
          <a:ln w="10160">
            <a:solidFill>
              <a:srgbClr val="283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63677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B7C4"/>
                </a:solidFill>
              </a:rPr>
              <a:t>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56432" y="1444752"/>
            <a:ext cx="1828800" cy="640080"/>
          </a:xfrm>
          <a:prstGeom prst="rect">
            <a:avLst/>
          </a:prstGeom>
          <a:solidFill>
            <a:srgbClr val="1B222B"/>
          </a:solidFill>
          <a:ln w="10160">
            <a:solidFill>
              <a:srgbClr val="283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9584" y="163677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B7C4"/>
                </a:solidFill>
              </a:rPr>
              <a:t>ROC-AUC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85232" y="1444752"/>
            <a:ext cx="2331720" cy="640080"/>
          </a:xfrm>
          <a:prstGeom prst="rect">
            <a:avLst/>
          </a:prstGeom>
          <a:solidFill>
            <a:srgbClr val="1B222B"/>
          </a:solidFill>
          <a:ln w="10160">
            <a:solidFill>
              <a:srgbClr val="283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8384" y="1636776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B7C4"/>
                </a:solidFill>
              </a:rPr>
              <a:t>Balanced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16952" y="1444752"/>
            <a:ext cx="1828800" cy="640080"/>
          </a:xfrm>
          <a:prstGeom prst="rect">
            <a:avLst/>
          </a:prstGeom>
          <a:solidFill>
            <a:srgbClr val="1B222B"/>
          </a:solidFill>
          <a:ln w="10160">
            <a:solidFill>
              <a:srgbClr val="283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90104" y="163677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B7C4"/>
                </a:solidFill>
              </a:rPr>
              <a:t>Log Loss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2084832"/>
            <a:ext cx="2743200" cy="640080"/>
          </a:xfrm>
          <a:prstGeom prst="rect">
            <a:avLst/>
          </a:prstGeom>
          <a:solidFill>
            <a:srgbClr val="151B22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27685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</a:rPr>
              <a:t>Rating only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56432" y="2084832"/>
            <a:ext cx="1828800" cy="640080"/>
          </a:xfrm>
          <a:prstGeom prst="rect">
            <a:avLst/>
          </a:prstGeom>
          <a:solidFill>
            <a:srgbClr val="151B22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27685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C2FF"/>
                </a:solidFill>
              </a:rPr>
              <a:t>0.657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85232" y="2084832"/>
            <a:ext cx="2331720" cy="640080"/>
          </a:xfrm>
          <a:prstGeom prst="rect">
            <a:avLst/>
          </a:prstGeom>
          <a:solidFill>
            <a:srgbClr val="151B22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2276856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C2FF"/>
                </a:solidFill>
              </a:rPr>
              <a:t>0.610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16952" y="2084832"/>
            <a:ext cx="1828800" cy="640080"/>
          </a:xfrm>
          <a:prstGeom prst="rect">
            <a:avLst/>
          </a:prstGeom>
          <a:solidFill>
            <a:srgbClr val="151B22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0104" y="227685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C2FF"/>
                </a:solidFill>
              </a:rPr>
              <a:t>0.630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3232" y="2724912"/>
            <a:ext cx="2743200" cy="640080"/>
          </a:xfrm>
          <a:prstGeom prst="rect">
            <a:avLst/>
          </a:prstGeom>
          <a:solidFill>
            <a:srgbClr val="151B22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291693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</a:rPr>
              <a:t>Baseline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56432" y="2724912"/>
            <a:ext cx="1828800" cy="640080"/>
          </a:xfrm>
          <a:prstGeom prst="rect">
            <a:avLst/>
          </a:prstGeom>
          <a:solidFill>
            <a:srgbClr val="151B22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291693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C2FF"/>
                </a:solidFill>
              </a:rPr>
              <a:t>0.655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285232" y="2724912"/>
            <a:ext cx="2331720" cy="640080"/>
          </a:xfrm>
          <a:prstGeom prst="rect">
            <a:avLst/>
          </a:prstGeom>
          <a:solidFill>
            <a:srgbClr val="151B22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2916936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C2FF"/>
                </a:solidFill>
              </a:rPr>
              <a:t>0.604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16952" y="2724912"/>
            <a:ext cx="1828800" cy="640080"/>
          </a:xfrm>
          <a:prstGeom prst="rect">
            <a:avLst/>
          </a:prstGeom>
          <a:solidFill>
            <a:srgbClr val="151B22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0104" y="291693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C2FF"/>
                </a:solidFill>
              </a:rPr>
              <a:t>0.632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3232" y="3364992"/>
            <a:ext cx="2743200" cy="640080"/>
          </a:xfrm>
          <a:prstGeom prst="rect">
            <a:avLst/>
          </a:prstGeom>
          <a:solidFill>
            <a:srgbClr val="15222B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55701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</a:rPr>
              <a:t>Behavioral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456432" y="3364992"/>
            <a:ext cx="1828800" cy="640080"/>
          </a:xfrm>
          <a:prstGeom prst="rect">
            <a:avLst/>
          </a:prstGeom>
          <a:solidFill>
            <a:srgbClr val="15222B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355701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C2FF"/>
                </a:solidFill>
              </a:rPr>
              <a:t>0.646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285232" y="3364992"/>
            <a:ext cx="2331720" cy="640080"/>
          </a:xfrm>
          <a:prstGeom prst="rect">
            <a:avLst/>
          </a:prstGeom>
          <a:solidFill>
            <a:srgbClr val="15222B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58384" y="3557016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C2FF"/>
                </a:solidFill>
              </a:rPr>
              <a:t>0.603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16952" y="3364992"/>
            <a:ext cx="1828800" cy="640080"/>
          </a:xfrm>
          <a:prstGeom prst="rect">
            <a:avLst/>
          </a:prstGeom>
          <a:solidFill>
            <a:srgbClr val="15222B"/>
          </a:solidFill>
          <a:ln w="8890">
            <a:solidFill>
              <a:srgbClr val="283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0104" y="355701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C2FF"/>
                </a:solidFill>
              </a:rPr>
              <a:t>0.629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823960" y="1463040"/>
            <a:ext cx="2423160" cy="2651760"/>
          </a:xfrm>
          <a:prstGeom prst="roundRect">
            <a:avLst>
              <a:gd name="adj" fmla="val 3019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0" y="17922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A"/>
                </a:solidFill>
              </a:rPr>
              <a:t>Что видно из таблицы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34272" y="2286000"/>
            <a:ext cx="1993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C4"/>
                </a:solidFill>
              </a:rPr>
              <a:t>Различия между моделями небольшие.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7C4"/>
                </a:solidFill>
              </a:rPr>
              <a:t>Behavioral model не следует называть "лучшей".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" y="4279392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Модели показывают умеренную предсказательную способность, но это не доказывает причинное влияние behavioral features.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68096" y="5175504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" y="5225796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E7C7"/>
                </a:solidFill>
              </a:rPr>
              <a:t>Full-set evaluation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22192" y="5175504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17232D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04488" y="5225796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B55B"/>
                </a:solidFill>
              </a:rPr>
              <a:t>No claim of causality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22592" y="52303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Predictive performance — вторичный вопрос после описательного анализа.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 на времени: walk-forward validation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901952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066544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C2FF"/>
                </a:solidFill>
              </a:rPr>
              <a:t>Past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240487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C4"/>
                </a:solidFill>
              </a:rPr>
              <a:t>Train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99232" y="2386584"/>
            <a:ext cx="173736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46120" y="1901952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51C23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2066544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E7C7"/>
                </a:solidFill>
              </a:rPr>
              <a:t>Future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55848" y="240487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C4"/>
                </a:solidFill>
              </a:rPr>
              <a:t>Predict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48072" y="2386584"/>
            <a:ext cx="219456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40680" y="190195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51C23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0408" y="206654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B55B"/>
                </a:solidFill>
              </a:rPr>
              <a:t>Move forward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50408" y="240487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C4"/>
                </a:solidFill>
              </a:rPr>
              <a:t>Retrain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25512" y="2386584"/>
            <a:ext cx="219456" cy="0"/>
          </a:xfrm>
          <a:prstGeom prst="line">
            <a:avLst/>
          </a:prstGeom>
          <a:noFill/>
          <a:ln w="17780">
            <a:solidFill>
              <a:srgbClr val="68778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18120" y="1901952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51C23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7848" y="2066544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E7C7"/>
                </a:solidFill>
              </a:rPr>
              <a:t>Next period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27848" y="240487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C4"/>
                </a:solidFill>
              </a:rPr>
              <a:t>Predict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2278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</a:rPr>
              <a:t>Суть: модель всегда предсказывает будущее относительно временного порядка данных.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822192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121820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690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7C4"/>
                </a:solidFill>
              </a:rPr>
              <a:t>Rating only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4531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C2FF"/>
                </a:solidFill>
              </a:rPr>
              <a:t>≈ 0.644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434840" y="3822192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121820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0690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7C4"/>
                </a:solidFill>
              </a:rPr>
              <a:t>Baseline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7720" y="44531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B55B"/>
                </a:solidFill>
              </a:rPr>
              <a:t>≈ 0.655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8138160" y="3822192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121820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40690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7C4"/>
                </a:solidFill>
              </a:rPr>
              <a:t>Behavioral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44531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E7C7"/>
                </a:solidFill>
              </a:rPr>
              <a:t>≈ 0.645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9808" y="5422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F"/>
                </a:solidFill>
              </a:rPr>
              <a:t>90 folds в multi-player walk-forward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22192" y="53675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</a:rPr>
              <a:t>Temporal validation проверяет стабильность при прогнозировании будущих партий, а не только внутри случайного split.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исследование НЕ позволяет утверждать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13232" y="132588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49047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C2FF"/>
                </a:solidFill>
              </a:rPr>
              <a:t>Proxy ≠ психология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33472" y="147218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Операциональное правило не измеряет внутреннее состояние.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45352" y="132588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151C23"/>
          </a:solidFill>
          <a:ln w="12700">
            <a:solidFill>
              <a:srgbClr val="FF7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9944" y="149047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E79"/>
                </a:solidFill>
              </a:rPr>
              <a:t>Association ≠ causality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65592" y="147218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Наблюдаемая связь не доказывает причинный эффект.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74320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151C23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9077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B55B"/>
                </a:solidFill>
              </a:rPr>
              <a:t>Bullet-only 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33472" y="288950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Результаты относятся к 60+0 bullet выборке.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5352" y="274320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151C23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29077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E7C7"/>
                </a:solidFill>
              </a:rPr>
              <a:t>Limited sample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65592" y="288950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15 игроков из заданного sampling frame не описывают всех игроков Lichess.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416052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2511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C2FF"/>
                </a:solidFill>
              </a:rPr>
              <a:t>Uncertainty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33472" y="430682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Player-level оценки имеют широкие интервалы; особенно при малом tilt 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5352" y="416052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151C23"/>
          </a:solidFill>
          <a:ln w="12700">
            <a:solidFill>
              <a:srgbClr val="FF7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432511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E79"/>
                </a:solidFill>
              </a:rPr>
              <a:t>Exploratory tests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65592" y="430682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7C4"/>
                </a:solidFill>
              </a:rPr>
              <a:t>Player-level p-values не корректировались на multiple comparisons.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56509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A"/>
                </a:solidFill>
              </a:rPr>
              <a:t>Исследование показывает статистическую ассоциацию в наблюдаемых данных, а не доказательство существования tilt как психологического феномена.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мы узнали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151C23"/>
          </a:solidFill>
          <a:ln w="12700">
            <a:solidFill>
              <a:srgbClr val="45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5C2FF"/>
                </a:solidFill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Наблюдаемая связь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05456"/>
            <a:ext cx="2907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7C4"/>
                </a:solidFill>
              </a:rPr>
              <a:t>После проигрышей, коротких перерывов и серий поражений наблюдается более высокая частота следующего проигрыша.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50876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151C23"/>
          </a:solidFill>
          <a:ln w="12700">
            <a:solidFill>
              <a:srgbClr val="F3B5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B55B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39512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Sensitivity имеет значение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505456"/>
            <a:ext cx="2907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7C4"/>
                </a:solidFill>
              </a:rPr>
              <a:t>Направление связи сохраняется при нескольких определениях proxy, но величина зависит от выбранного порога.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50876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151C23"/>
          </a:solidFill>
          <a:ln w="12700">
            <a:solidFill>
              <a:srgbClr val="8BE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BE7C7"/>
                </a:solidFill>
              </a:rPr>
              <a:t>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42832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A"/>
                </a:solidFill>
              </a:rPr>
              <a:t>Эффект различается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2505456"/>
            <a:ext cx="2907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7C4"/>
                </a:solidFill>
              </a:rPr>
              <a:t>Player-level estimates варьируют и сопровождаются существенной неопределённостью, поэтому вывод остаётся наблюдательным и exploratory.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" y="5074920"/>
            <a:ext cx="10378440" cy="0"/>
          </a:xfrm>
          <a:prstGeom prst="line">
            <a:avLst/>
          </a:prstGeom>
          <a:noFill/>
          <a:ln w="12700">
            <a:solidFill>
              <a:srgbClr val="283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37667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7FA"/>
                </a:solidFill>
              </a:rPr>
              <a:t>Главная ценность проекта — воспроизводимый аналитический подход к изучению поведения игроков во временной последовательности игр.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114800" y="6163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8F"/>
                </a:solidFill>
              </a:rPr>
              <a:t>Chess Behavior Analysis  •  v12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Behavior Analysis</dc:title>
  <dc:subject>Chess Behavior Analysis</dc:subject>
  <dc:creator>OpenAI</dc:creator>
  <cp:lastModifiedBy>OpenAI</cp:lastModifiedBy>
  <cp:revision>1</cp:revision>
  <dcterms:created xsi:type="dcterms:W3CDTF">2026-09-29T21:10:49Z</dcterms:created>
  <dcterms:modified xsi:type="dcterms:W3CDTF">2026-09-29T21:10:49Z</dcterms:modified>
</cp:coreProperties>
</file>